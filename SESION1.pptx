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0" r:id="rId1"/>
  </p:sldMasterIdLst>
  <p:notesMasterIdLst>
    <p:notesMasterId r:id="rId12"/>
  </p:notesMasterIdLst>
  <p:sldIdLst>
    <p:sldId id="256" r:id="rId2"/>
    <p:sldId id="257" r:id="rId3"/>
    <p:sldId id="266" r:id="rId4"/>
    <p:sldId id="267" r:id="rId5"/>
    <p:sldId id="268" r:id="rId6"/>
    <p:sldId id="270" r:id="rId7"/>
    <p:sldId id="269" r:id="rId8"/>
    <p:sldId id="271" r:id="rId9"/>
    <p:sldId id="272" r:id="rId10"/>
    <p:sldId id="265" r:id="rId11"/>
  </p:sldIdLst>
  <p:sldSz cx="9144000" cy="6858000" type="screen4x3"/>
  <p:notesSz cx="9144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5CC58A6D-B4A8-4327-8F08-2369A78B0D12}">
          <p14:sldIdLst>
            <p14:sldId id="256"/>
            <p14:sldId id="257"/>
            <p14:sldId id="266"/>
            <p14:sldId id="267"/>
            <p14:sldId id="268"/>
            <p14:sldId id="270"/>
            <p14:sldId id="269"/>
            <p14:sldId id="271"/>
            <p14:sldId id="272"/>
          </p14:sldIdLst>
        </p14:section>
        <p14:section name="Sección sin título" id="{9C09ED88-7985-431F-BC89-4BB6DC9E4DC8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288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418431-DF2C-443C-8A33-B3216BC14CBB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6841A80-888F-4BF0-8A7E-35CB45EED2AB}">
      <dgm:prSet custT="1"/>
      <dgm:spPr/>
      <dgm:t>
        <a:bodyPr/>
        <a:lstStyle/>
        <a:p>
          <a:r>
            <a:rPr lang="es-ES" sz="2400" dirty="0"/>
            <a:t>Machine </a:t>
          </a:r>
          <a:r>
            <a:rPr lang="es-ES" sz="2400" dirty="0" err="1"/>
            <a:t>learning</a:t>
          </a:r>
          <a:r>
            <a:rPr lang="es-ES" sz="2400" dirty="0"/>
            <a:t> es el campo de estudio que le da a la computadora la capacidad de aprender sin ser programada explícitamente.</a:t>
          </a:r>
          <a:endParaRPr lang="en-US" sz="2400" dirty="0"/>
        </a:p>
      </dgm:t>
    </dgm:pt>
    <dgm:pt modelId="{098253D2-EE3B-4CA4-867C-97F063145939}" type="parTrans" cxnId="{F1B373C8-7425-44F4-A3AE-7915E17F716E}">
      <dgm:prSet/>
      <dgm:spPr/>
      <dgm:t>
        <a:bodyPr/>
        <a:lstStyle/>
        <a:p>
          <a:endParaRPr lang="en-US"/>
        </a:p>
      </dgm:t>
    </dgm:pt>
    <dgm:pt modelId="{DDABFB0E-4284-4716-A57D-8D1E5812ECEA}" type="sibTrans" cxnId="{F1B373C8-7425-44F4-A3AE-7915E17F716E}">
      <dgm:prSet/>
      <dgm:spPr/>
      <dgm:t>
        <a:bodyPr/>
        <a:lstStyle/>
        <a:p>
          <a:endParaRPr lang="en-US"/>
        </a:p>
      </dgm:t>
    </dgm:pt>
    <dgm:pt modelId="{42D05D17-DD2D-44FF-95E5-3CF5EF578A69}">
      <dgm:prSet custT="1"/>
      <dgm:spPr/>
      <dgm:t>
        <a:bodyPr/>
        <a:lstStyle/>
        <a:p>
          <a:r>
            <a:rPr lang="es-PE" sz="2400" noProof="0" dirty="0"/>
            <a:t>Aprender en este contexto quiere decir obtener conocimiento (identificar patrones) en los datos.</a:t>
          </a:r>
        </a:p>
      </dgm:t>
    </dgm:pt>
    <dgm:pt modelId="{0FC36E8C-88C6-4B48-A459-A8B68049B2E9}" type="parTrans" cxnId="{ADC07FC8-996B-4B7C-9AE7-8F0C118AFD35}">
      <dgm:prSet/>
      <dgm:spPr/>
      <dgm:t>
        <a:bodyPr/>
        <a:lstStyle/>
        <a:p>
          <a:endParaRPr lang="en-US"/>
        </a:p>
      </dgm:t>
    </dgm:pt>
    <dgm:pt modelId="{04FDD204-EAE1-4CD9-B47E-41E3E33D2123}" type="sibTrans" cxnId="{ADC07FC8-996B-4B7C-9AE7-8F0C118AFD35}">
      <dgm:prSet/>
      <dgm:spPr/>
      <dgm:t>
        <a:bodyPr/>
        <a:lstStyle/>
        <a:p>
          <a:endParaRPr lang="en-US"/>
        </a:p>
      </dgm:t>
    </dgm:pt>
    <dgm:pt modelId="{39E2E470-BAE5-40C2-A500-CAF9CAF3223E}" type="pres">
      <dgm:prSet presAssocID="{F4418431-DF2C-443C-8A33-B3216BC14CBB}" presName="vert0" presStyleCnt="0">
        <dgm:presLayoutVars>
          <dgm:dir/>
          <dgm:animOne val="branch"/>
          <dgm:animLvl val="lvl"/>
        </dgm:presLayoutVars>
      </dgm:prSet>
      <dgm:spPr/>
    </dgm:pt>
    <dgm:pt modelId="{59A65276-70B4-47A1-92F7-AEE3FBC579DB}" type="pres">
      <dgm:prSet presAssocID="{C6841A80-888F-4BF0-8A7E-35CB45EED2AB}" presName="thickLine" presStyleLbl="alignNode1" presStyleIdx="0" presStyleCnt="2"/>
      <dgm:spPr/>
    </dgm:pt>
    <dgm:pt modelId="{80F311C0-5D97-4AEE-A364-34C85799871E}" type="pres">
      <dgm:prSet presAssocID="{C6841A80-888F-4BF0-8A7E-35CB45EED2AB}" presName="horz1" presStyleCnt="0"/>
      <dgm:spPr/>
    </dgm:pt>
    <dgm:pt modelId="{41D336BD-E6FF-4EA3-A577-A37326B66B5F}" type="pres">
      <dgm:prSet presAssocID="{C6841A80-888F-4BF0-8A7E-35CB45EED2AB}" presName="tx1" presStyleLbl="revTx" presStyleIdx="0" presStyleCnt="2"/>
      <dgm:spPr/>
    </dgm:pt>
    <dgm:pt modelId="{DBAFCF7D-233C-4A52-9942-46BFE6E9B2A8}" type="pres">
      <dgm:prSet presAssocID="{C6841A80-888F-4BF0-8A7E-35CB45EED2AB}" presName="vert1" presStyleCnt="0"/>
      <dgm:spPr/>
    </dgm:pt>
    <dgm:pt modelId="{8C4034AB-5BE7-42BF-AA12-80058C58579F}" type="pres">
      <dgm:prSet presAssocID="{42D05D17-DD2D-44FF-95E5-3CF5EF578A69}" presName="thickLine" presStyleLbl="alignNode1" presStyleIdx="1" presStyleCnt="2"/>
      <dgm:spPr/>
    </dgm:pt>
    <dgm:pt modelId="{10BB259D-44C1-4F98-9D5F-7A7FB101D0C2}" type="pres">
      <dgm:prSet presAssocID="{42D05D17-DD2D-44FF-95E5-3CF5EF578A69}" presName="horz1" presStyleCnt="0"/>
      <dgm:spPr/>
    </dgm:pt>
    <dgm:pt modelId="{17C743F5-F562-4486-BCA4-CB787ED74D31}" type="pres">
      <dgm:prSet presAssocID="{42D05D17-DD2D-44FF-95E5-3CF5EF578A69}" presName="tx1" presStyleLbl="revTx" presStyleIdx="1" presStyleCnt="2"/>
      <dgm:spPr/>
    </dgm:pt>
    <dgm:pt modelId="{12300021-2377-4762-8F1B-6DFF77DF987B}" type="pres">
      <dgm:prSet presAssocID="{42D05D17-DD2D-44FF-95E5-3CF5EF578A69}" presName="vert1" presStyleCnt="0"/>
      <dgm:spPr/>
    </dgm:pt>
  </dgm:ptLst>
  <dgm:cxnLst>
    <dgm:cxn modelId="{FA560850-9DCC-4C9A-8518-F16086EE7C80}" type="presOf" srcId="{42D05D17-DD2D-44FF-95E5-3CF5EF578A69}" destId="{17C743F5-F562-4486-BCA4-CB787ED74D31}" srcOrd="0" destOrd="0" presId="urn:microsoft.com/office/officeart/2008/layout/LinedList"/>
    <dgm:cxn modelId="{B1B106B8-4F86-445D-ADA6-091E16A4476D}" type="presOf" srcId="{F4418431-DF2C-443C-8A33-B3216BC14CBB}" destId="{39E2E470-BAE5-40C2-A500-CAF9CAF3223E}" srcOrd="0" destOrd="0" presId="urn:microsoft.com/office/officeart/2008/layout/LinedList"/>
    <dgm:cxn modelId="{A4A376C3-A162-4D5C-990A-C50ADF480DF3}" type="presOf" srcId="{C6841A80-888F-4BF0-8A7E-35CB45EED2AB}" destId="{41D336BD-E6FF-4EA3-A577-A37326B66B5F}" srcOrd="0" destOrd="0" presId="urn:microsoft.com/office/officeart/2008/layout/LinedList"/>
    <dgm:cxn modelId="{F1B373C8-7425-44F4-A3AE-7915E17F716E}" srcId="{F4418431-DF2C-443C-8A33-B3216BC14CBB}" destId="{C6841A80-888F-4BF0-8A7E-35CB45EED2AB}" srcOrd="0" destOrd="0" parTransId="{098253D2-EE3B-4CA4-867C-97F063145939}" sibTransId="{DDABFB0E-4284-4716-A57D-8D1E5812ECEA}"/>
    <dgm:cxn modelId="{ADC07FC8-996B-4B7C-9AE7-8F0C118AFD35}" srcId="{F4418431-DF2C-443C-8A33-B3216BC14CBB}" destId="{42D05D17-DD2D-44FF-95E5-3CF5EF578A69}" srcOrd="1" destOrd="0" parTransId="{0FC36E8C-88C6-4B48-A459-A8B68049B2E9}" sibTransId="{04FDD204-EAE1-4CD9-B47E-41E3E33D2123}"/>
    <dgm:cxn modelId="{3E8787A5-9805-4B00-9975-088890FD2139}" type="presParOf" srcId="{39E2E470-BAE5-40C2-A500-CAF9CAF3223E}" destId="{59A65276-70B4-47A1-92F7-AEE3FBC579DB}" srcOrd="0" destOrd="0" presId="urn:microsoft.com/office/officeart/2008/layout/LinedList"/>
    <dgm:cxn modelId="{ACFC6D1D-717A-458A-81F2-0814E40454F5}" type="presParOf" srcId="{39E2E470-BAE5-40C2-A500-CAF9CAF3223E}" destId="{80F311C0-5D97-4AEE-A364-34C85799871E}" srcOrd="1" destOrd="0" presId="urn:microsoft.com/office/officeart/2008/layout/LinedList"/>
    <dgm:cxn modelId="{8CE36621-A68D-4570-8178-32553EBEE9EE}" type="presParOf" srcId="{80F311C0-5D97-4AEE-A364-34C85799871E}" destId="{41D336BD-E6FF-4EA3-A577-A37326B66B5F}" srcOrd="0" destOrd="0" presId="urn:microsoft.com/office/officeart/2008/layout/LinedList"/>
    <dgm:cxn modelId="{EE4C79A6-5129-4A13-87A5-F132F12ABC7D}" type="presParOf" srcId="{80F311C0-5D97-4AEE-A364-34C85799871E}" destId="{DBAFCF7D-233C-4A52-9942-46BFE6E9B2A8}" srcOrd="1" destOrd="0" presId="urn:microsoft.com/office/officeart/2008/layout/LinedList"/>
    <dgm:cxn modelId="{D8EC624F-51FD-4C3F-B354-ECAF3921EF98}" type="presParOf" srcId="{39E2E470-BAE5-40C2-A500-CAF9CAF3223E}" destId="{8C4034AB-5BE7-42BF-AA12-80058C58579F}" srcOrd="2" destOrd="0" presId="urn:microsoft.com/office/officeart/2008/layout/LinedList"/>
    <dgm:cxn modelId="{34A03619-602B-45A0-B55A-08421BBCBF34}" type="presParOf" srcId="{39E2E470-BAE5-40C2-A500-CAF9CAF3223E}" destId="{10BB259D-44C1-4F98-9D5F-7A7FB101D0C2}" srcOrd="3" destOrd="0" presId="urn:microsoft.com/office/officeart/2008/layout/LinedList"/>
    <dgm:cxn modelId="{5CF468F7-6D5C-402B-AF01-802246743B16}" type="presParOf" srcId="{10BB259D-44C1-4F98-9D5F-7A7FB101D0C2}" destId="{17C743F5-F562-4486-BCA4-CB787ED74D31}" srcOrd="0" destOrd="0" presId="urn:microsoft.com/office/officeart/2008/layout/LinedList"/>
    <dgm:cxn modelId="{181BBBF6-D2CE-46EE-B09E-15036A0F1CE3}" type="presParOf" srcId="{10BB259D-44C1-4F98-9D5F-7A7FB101D0C2}" destId="{12300021-2377-4762-8F1B-6DFF77DF987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65276-70B4-47A1-92F7-AEE3FBC579DB}">
      <dsp:nvSpPr>
        <dsp:cNvPr id="0" name=""/>
        <dsp:cNvSpPr/>
      </dsp:nvSpPr>
      <dsp:spPr>
        <a:xfrm>
          <a:off x="0" y="0"/>
          <a:ext cx="82696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1D336BD-E6FF-4EA3-A577-A37326B66B5F}">
      <dsp:nvSpPr>
        <dsp:cNvPr id="0" name=""/>
        <dsp:cNvSpPr/>
      </dsp:nvSpPr>
      <dsp:spPr>
        <a:xfrm>
          <a:off x="0" y="0"/>
          <a:ext cx="8269656" cy="1094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Machine </a:t>
          </a:r>
          <a:r>
            <a:rPr lang="es-ES" sz="2400" kern="1200" dirty="0" err="1"/>
            <a:t>learning</a:t>
          </a:r>
          <a:r>
            <a:rPr lang="es-ES" sz="2400" kern="1200" dirty="0"/>
            <a:t> es el campo de estudio que le da a la computadora la capacidad de aprender sin ser programada explícitamente.</a:t>
          </a:r>
          <a:endParaRPr lang="en-US" sz="2400" kern="1200" dirty="0"/>
        </a:p>
      </dsp:txBody>
      <dsp:txXfrm>
        <a:off x="0" y="0"/>
        <a:ext cx="8269656" cy="1094104"/>
      </dsp:txXfrm>
    </dsp:sp>
    <dsp:sp modelId="{8C4034AB-5BE7-42BF-AA12-80058C58579F}">
      <dsp:nvSpPr>
        <dsp:cNvPr id="0" name=""/>
        <dsp:cNvSpPr/>
      </dsp:nvSpPr>
      <dsp:spPr>
        <a:xfrm>
          <a:off x="0" y="1094104"/>
          <a:ext cx="82696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7C743F5-F562-4486-BCA4-CB787ED74D31}">
      <dsp:nvSpPr>
        <dsp:cNvPr id="0" name=""/>
        <dsp:cNvSpPr/>
      </dsp:nvSpPr>
      <dsp:spPr>
        <a:xfrm>
          <a:off x="0" y="1094104"/>
          <a:ext cx="8269656" cy="1094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400" kern="1200" noProof="0" dirty="0"/>
            <a:t>Aprender en este contexto quiere decir obtener conocimiento (identificar patrones) en los datos.</a:t>
          </a:r>
        </a:p>
      </dsp:txBody>
      <dsp:txXfrm>
        <a:off x="0" y="1094104"/>
        <a:ext cx="8269656" cy="10941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CB2E2-A137-4CB5-BF2E-6A9BC3BAB4A7}" type="datetimeFigureOut">
              <a:rPr lang="es-PE" smtClean="0"/>
              <a:t>18/10/2025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A55D7-CB52-4CD5-8A97-C05B971D108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8207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A55D7-CB52-4CD5-8A97-C05B971D1081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2263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A55D7-CB52-4CD5-8A97-C05B971D1081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3032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E2D1B-66BA-C621-9E70-9C6CDDFFB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0A16A87-B637-B197-F23F-0DDF4AC27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2770A48-8A39-4F80-B5FE-6FEAB8A8F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60CD86-BBC7-A89A-0940-1B6E9FAC11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A55D7-CB52-4CD5-8A97-C05B971D1081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3437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28401-404D-96EE-790D-47266294A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0BB8EF6-1A87-E218-A8D6-05FB43595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96CF56A-D969-5E10-9187-E328C7DF7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9A74E8-7490-3457-7BAC-3D38ADDFFF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A55D7-CB52-4CD5-8A97-C05B971D1081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28009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319F1-C5D4-E946-9D16-73F168C2F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F8DEED9-DAA7-6757-60A5-2384F4D5D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9BAB222-AE21-B6C0-52A7-57495D367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51DB4F-CC87-CF1F-D741-65189B6D6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A55D7-CB52-4CD5-8A97-C05B971D1081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6389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0C4BD-5227-A961-EE69-B7036450D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524A779-E7AF-5E22-49C4-F6EE42DCD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205AF3-1E71-28BD-B709-68BB54DF3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2DC8CB-5658-2E83-13CF-01F7265B17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A55D7-CB52-4CD5-8A97-C05B971D1081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66129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B3E7B-D255-B45A-EC41-F909FDCE1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6A88045-014D-62A9-670B-4A71E0E58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48A28CA-F419-9BDF-5639-49EF0E791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A2D9CA-22D1-F38D-8701-D27EA1BA2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A55D7-CB52-4CD5-8A97-C05B971D1081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27714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1903-FE59-5F2C-1E40-A93758241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A8825A-23CC-B972-4331-36A72E7C5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79630BA-3B20-3B7C-E1CC-E1638E190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F3BF50-3FBE-582E-08A6-294E64CEAB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A55D7-CB52-4CD5-8A97-C05B971D1081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41326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00698-74FA-4E2C-8FC7-4593E00D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FCD01F4-F392-5EA6-7E58-D289AD649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09B4149-0C85-5C02-69F9-AEF70DDB8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2F28E2-0564-B7B9-82EA-E6132985A5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A55D7-CB52-4CD5-8A97-C05B971D1081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08345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s-PE" spc="-5"/>
              <a:t>Nombre del profesor</a:t>
            </a:r>
            <a:endParaRPr lang="es-PE" spc="-5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R="6350" algn="r">
              <a:lnSpc>
                <a:spcPts val="955"/>
              </a:lnSpc>
            </a:pPr>
            <a:r>
              <a:rPr lang="es-PE" spc="-5"/>
              <a:t>aulavirtual.diplomadosperu.com.pe</a:t>
            </a:r>
            <a:endParaRPr lang="es-PE" sz="800">
              <a:latin typeface="Carlito"/>
              <a:cs typeface="Carlito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13336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s-PE" spc="-5"/>
              <a:t>Nombre del profesor</a:t>
            </a:r>
            <a:endParaRPr lang="es-PE" spc="-5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R="6350" algn="r">
              <a:lnSpc>
                <a:spcPts val="955"/>
              </a:lnSpc>
            </a:pPr>
            <a:r>
              <a:rPr lang="es-PE" spc="-5"/>
              <a:t>aulavirtual.diplomadosperu.com.pe</a:t>
            </a:r>
            <a:endParaRPr lang="es-PE" sz="800">
              <a:latin typeface="Carlito"/>
              <a:cs typeface="Carlito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75190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s-PE" spc="-5"/>
              <a:t>Nombre del profesor</a:t>
            </a:r>
            <a:endParaRPr lang="es-PE" spc="-5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R="6350" algn="r">
              <a:lnSpc>
                <a:spcPts val="955"/>
              </a:lnSpc>
            </a:pPr>
            <a:r>
              <a:rPr lang="es-PE" spc="-5"/>
              <a:t>aulavirtual.diplomadosperu.com.pe</a:t>
            </a:r>
            <a:endParaRPr lang="es-PE" sz="800">
              <a:latin typeface="Carlito"/>
              <a:cs typeface="Carlito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8790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s-PE" spc="-5"/>
              <a:t>Nombre del profesor</a:t>
            </a:r>
            <a:endParaRPr lang="es-PE" spc="-5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R="6350" algn="r">
              <a:lnSpc>
                <a:spcPts val="955"/>
              </a:lnSpc>
            </a:pPr>
            <a:r>
              <a:rPr lang="es-PE" spc="-5"/>
              <a:t>aulavirtual.diplomadosperu.com.pe</a:t>
            </a:r>
            <a:endParaRPr lang="es-PE" sz="800">
              <a:latin typeface="Carlito"/>
              <a:cs typeface="Carlito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6172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s-PE" spc="-5"/>
              <a:t>Nombre del profesor</a:t>
            </a:r>
            <a:endParaRPr lang="es-PE" spc="-5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R="6350" algn="r">
              <a:lnSpc>
                <a:spcPts val="955"/>
              </a:lnSpc>
            </a:pPr>
            <a:r>
              <a:rPr lang="es-PE" spc="-5"/>
              <a:t>aulavirtual.diplomadosperu.com.pe</a:t>
            </a:r>
            <a:endParaRPr lang="es-PE" sz="800">
              <a:latin typeface="Carlito"/>
              <a:cs typeface="Carlito"/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3635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s-PE" spc="-5"/>
              <a:t>Nombre del profesor</a:t>
            </a:r>
            <a:endParaRPr lang="es-PE" spc="-5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R="6350" algn="r">
              <a:lnSpc>
                <a:spcPts val="955"/>
              </a:lnSpc>
            </a:pPr>
            <a:r>
              <a:rPr lang="es-PE" spc="-5"/>
              <a:t>aulavirtual.diplomadosperu.com.pe</a:t>
            </a:r>
            <a:endParaRPr lang="es-PE" sz="800">
              <a:latin typeface="Carlito"/>
              <a:cs typeface="Carlito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5081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s-PE" spc="-5"/>
              <a:t>Nombre del profesor</a:t>
            </a:r>
            <a:endParaRPr lang="es-PE" spc="-5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R="6350" algn="r">
              <a:lnSpc>
                <a:spcPts val="955"/>
              </a:lnSpc>
            </a:pPr>
            <a:r>
              <a:rPr lang="es-PE" spc="-5"/>
              <a:t>aulavirtual.diplomadosperu.com.pe</a:t>
            </a:r>
            <a:endParaRPr lang="es-PE" sz="800">
              <a:latin typeface="Carlito"/>
              <a:cs typeface="Carlito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63562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s-PE" spc="-5"/>
              <a:t>Nombre del profesor</a:t>
            </a:r>
            <a:endParaRPr lang="es-PE" spc="-5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R="6350" algn="r">
              <a:lnSpc>
                <a:spcPts val="955"/>
              </a:lnSpc>
            </a:pPr>
            <a:r>
              <a:rPr lang="es-PE" spc="-5"/>
              <a:t>aulavirtual.diplomadosperu.com.pe</a:t>
            </a:r>
            <a:endParaRPr lang="es-PE" sz="800">
              <a:latin typeface="Carlito"/>
              <a:cs typeface="Carlito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74872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s-PE" spc="-5"/>
              <a:t>Nombre del profesor</a:t>
            </a:r>
            <a:endParaRPr lang="es-PE" spc="-5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R="6350" algn="r">
              <a:lnSpc>
                <a:spcPts val="955"/>
              </a:lnSpc>
            </a:pPr>
            <a:r>
              <a:rPr lang="es-PE" spc="-5"/>
              <a:t>aulavirtual.diplomadosperu.com.pe</a:t>
            </a:r>
            <a:endParaRPr lang="es-PE" sz="800">
              <a:latin typeface="Carlito"/>
              <a:cs typeface="Carlito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1756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s-PE" spc="-5"/>
              <a:t>Nombre del profesor</a:t>
            </a:r>
            <a:endParaRPr lang="es-PE" spc="-5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R="6350" algn="r">
              <a:lnSpc>
                <a:spcPts val="955"/>
              </a:lnSpc>
            </a:pPr>
            <a:r>
              <a:rPr lang="es-PE" spc="-5"/>
              <a:t>aulavirtual.diplomadosperu.com.pe</a:t>
            </a:r>
            <a:endParaRPr lang="es-PE" sz="800">
              <a:latin typeface="Carlito"/>
              <a:cs typeface="Carlito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17002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s-PE" spc="-5"/>
              <a:t>Nombre del profesor</a:t>
            </a:r>
            <a:endParaRPr lang="es-PE" spc="-5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R="6350" algn="r">
              <a:lnSpc>
                <a:spcPts val="955"/>
              </a:lnSpc>
            </a:pPr>
            <a:r>
              <a:rPr lang="es-PE" spc="-5"/>
              <a:t>aulavirtual.diplomadosperu.com.pe</a:t>
            </a:r>
            <a:endParaRPr lang="es-PE" sz="800">
              <a:latin typeface="Carlito"/>
              <a:cs typeface="Carlito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95170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955"/>
              </a:lnSpc>
            </a:pPr>
            <a:r>
              <a:rPr lang="es-PE" spc="-5"/>
              <a:t>Nombre del profesor</a:t>
            </a:r>
            <a:endParaRPr lang="es-PE" spc="-5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R="6350" algn="r">
              <a:lnSpc>
                <a:spcPts val="955"/>
              </a:lnSpc>
            </a:pPr>
            <a:r>
              <a:rPr lang="es-PE" spc="-5"/>
              <a:t>aulavirtual.diplomadosperu.com.pe</a:t>
            </a:r>
            <a:endParaRPr lang="es-PE" sz="800">
              <a:latin typeface="Carlito"/>
              <a:cs typeface="Carlito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1919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361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361176"/>
          </a:xfrm>
          <a:custGeom>
            <a:avLst/>
            <a:gdLst/>
            <a:ahLst/>
            <a:cxnLst/>
            <a:rect l="l" t="t" r="r" b="b"/>
            <a:pathLst>
              <a:path w="9144000" h="6238240">
                <a:moveTo>
                  <a:pt x="0" y="6237731"/>
                </a:moveTo>
                <a:lnTo>
                  <a:pt x="9144000" y="6237731"/>
                </a:lnTo>
                <a:lnTo>
                  <a:pt x="9144000" y="0"/>
                </a:lnTo>
                <a:lnTo>
                  <a:pt x="0" y="0"/>
                </a:lnTo>
                <a:lnTo>
                  <a:pt x="0" y="6237731"/>
                </a:lnTo>
                <a:close/>
              </a:path>
            </a:pathLst>
          </a:custGeom>
          <a:solidFill>
            <a:srgbClr val="0086CC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29527" y="2874866"/>
            <a:ext cx="7924394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z="4000" spc="-15" dirty="0">
                <a:solidFill>
                  <a:srgbClr val="FFFFFF"/>
                </a:solidFill>
                <a:latin typeface="Carlito"/>
              </a:rPr>
              <a:t>FUNDAMENTOS DE IA y MACHINE LEARNING</a:t>
            </a:r>
            <a:endParaRPr sz="4000" spc="-15" dirty="0">
              <a:solidFill>
                <a:srgbClr val="FFFFFF"/>
              </a:solidFill>
              <a:latin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2406" y="2479030"/>
            <a:ext cx="91399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z="1600" spc="-10" dirty="0">
                <a:solidFill>
                  <a:srgbClr val="FFFFFF"/>
                </a:solidFill>
                <a:latin typeface="Carlito"/>
                <a:cs typeface="Carlito"/>
              </a:rPr>
              <a:t>MODULO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5904" y="2269235"/>
            <a:ext cx="2736850" cy="0"/>
          </a:xfrm>
          <a:custGeom>
            <a:avLst/>
            <a:gdLst/>
            <a:ahLst/>
            <a:cxnLst/>
            <a:rect l="l" t="t" r="r" b="b"/>
            <a:pathLst>
              <a:path w="2736850">
                <a:moveTo>
                  <a:pt x="2736342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62406" y="1843277"/>
            <a:ext cx="2895194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1400" spc="-5" dirty="0">
                <a:solidFill>
                  <a:srgbClr val="FFFFFF"/>
                </a:solidFill>
                <a:latin typeface="Carlito"/>
              </a:rPr>
              <a:t>PROGRAMA DE ESPECIALIZACIÓN EN INTELIGENCIA ARTIFICIAL</a:t>
            </a:r>
            <a:endParaRPr sz="1400" spc="-5" dirty="0">
              <a:solidFill>
                <a:srgbClr val="FFFFFF"/>
              </a:solidFill>
              <a:latin typeface="Carli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56666" y="1701545"/>
            <a:ext cx="2736850" cy="0"/>
          </a:xfrm>
          <a:custGeom>
            <a:avLst/>
            <a:gdLst/>
            <a:ahLst/>
            <a:cxnLst/>
            <a:rect l="l" t="t" r="r" b="b"/>
            <a:pathLst>
              <a:path w="2736850">
                <a:moveTo>
                  <a:pt x="2736342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1</a:t>
            </a:fld>
            <a:endParaRPr lang="es-PE" dirty="0"/>
          </a:p>
        </p:txBody>
      </p:sp>
      <p:sp>
        <p:nvSpPr>
          <p:cNvPr id="14" name="Marcador de pie de página 9"/>
          <p:cNvSpPr txBox="1">
            <a:spLocks/>
          </p:cNvSpPr>
          <p:nvPr/>
        </p:nvSpPr>
        <p:spPr>
          <a:xfrm>
            <a:off x="457199" y="6367237"/>
            <a:ext cx="312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6350" algn="l">
              <a:lnSpc>
                <a:spcPts val="955"/>
              </a:lnSpc>
            </a:pPr>
            <a:r>
              <a:rPr lang="es-PE" spc="-5" dirty="0"/>
              <a:t>Profesor Mg. Juan José Romero Aliaga</a:t>
            </a:r>
            <a:endParaRPr lang="es-PE" sz="8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/>
          <p:cNvSpPr/>
          <p:nvPr/>
        </p:nvSpPr>
        <p:spPr>
          <a:xfrm>
            <a:off x="-1" y="0"/>
            <a:ext cx="8080375" cy="771525"/>
          </a:xfrm>
          <a:custGeom>
            <a:avLst/>
            <a:gdLst/>
            <a:ahLst/>
            <a:cxnLst/>
            <a:rect l="l" t="t" r="r" b="b"/>
            <a:pathLst>
              <a:path w="8080375" h="771525">
                <a:moveTo>
                  <a:pt x="8080248" y="0"/>
                </a:moveTo>
                <a:lnTo>
                  <a:pt x="0" y="0"/>
                </a:lnTo>
                <a:lnTo>
                  <a:pt x="0" y="771144"/>
                </a:lnTo>
                <a:lnTo>
                  <a:pt x="8080248" y="771144"/>
                </a:lnTo>
                <a:lnTo>
                  <a:pt x="8080248" y="0"/>
                </a:lnTo>
                <a:close/>
              </a:path>
            </a:pathLst>
          </a:custGeom>
          <a:solidFill>
            <a:srgbClr val="0086CC"/>
          </a:solidFill>
        </p:spPr>
        <p:txBody>
          <a:bodyPr wrap="square" lIns="0" tIns="0" rIns="0" bIns="0" rtlCol="0"/>
          <a:lstStyle/>
          <a:p>
            <a:endParaRPr dirty="0">
              <a:latin typeface="Carlito"/>
            </a:endParaRPr>
          </a:p>
        </p:txBody>
      </p:sp>
      <p:sp>
        <p:nvSpPr>
          <p:cNvPr id="4" name="object 9"/>
          <p:cNvSpPr txBox="1"/>
          <p:nvPr/>
        </p:nvSpPr>
        <p:spPr>
          <a:xfrm>
            <a:off x="280212" y="239649"/>
            <a:ext cx="18450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spc="-5" dirty="0">
                <a:solidFill>
                  <a:srgbClr val="FFFFFF"/>
                </a:solidFill>
                <a:latin typeface="Carlito"/>
                <a:cs typeface="Carlito"/>
              </a:rPr>
              <a:t>PDE en  Inteligencia Artificial</a:t>
            </a:r>
            <a:endParaRPr sz="1400" dirty="0">
              <a:latin typeface="Carlito"/>
              <a:cs typeface="Carlito"/>
            </a:endParaRPr>
          </a:p>
        </p:txBody>
      </p:sp>
      <p:sp>
        <p:nvSpPr>
          <p:cNvPr id="5" name="object 8"/>
          <p:cNvSpPr/>
          <p:nvPr/>
        </p:nvSpPr>
        <p:spPr>
          <a:xfrm>
            <a:off x="2125217" y="200405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617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4"/>
          <p:cNvSpPr txBox="1"/>
          <p:nvPr/>
        </p:nvSpPr>
        <p:spPr>
          <a:xfrm>
            <a:off x="2490976" y="230250"/>
            <a:ext cx="551002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600" spc="-5" dirty="0">
                <a:solidFill>
                  <a:srgbClr val="FFFFFF"/>
                </a:solidFill>
                <a:latin typeface="Carlito"/>
                <a:cs typeface="Carlito"/>
              </a:rPr>
              <a:t>Fundamentos de IA y Machine </a:t>
            </a:r>
            <a:r>
              <a:rPr lang="es-ES" sz="1600" spc="-5" dirty="0" err="1">
                <a:solidFill>
                  <a:srgbClr val="FFFFFF"/>
                </a:solidFill>
                <a:latin typeface="Carlito"/>
                <a:cs typeface="Carlito"/>
              </a:rPr>
              <a:t>Learning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2</a:t>
            </a:fld>
            <a:endParaRPr lang="es-PE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C09F43F-B52F-FE64-4C41-CC2F748842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018" y="125949"/>
            <a:ext cx="521844" cy="62362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CE4B4C0-85BD-61C1-8543-568039F459E3}"/>
              </a:ext>
            </a:extLst>
          </p:cNvPr>
          <p:cNvSpPr txBox="1"/>
          <p:nvPr/>
        </p:nvSpPr>
        <p:spPr>
          <a:xfrm>
            <a:off x="2286000" y="102221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800" dirty="0">
                <a:solidFill>
                  <a:srgbClr val="FF0000"/>
                </a:solidFill>
              </a:rPr>
              <a:t>¿Qué es Inteligencia Artificial?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858174F-6466-A014-823D-81892ED04E80}"/>
              </a:ext>
            </a:extLst>
          </p:cNvPr>
          <p:cNvSpPr txBox="1"/>
          <p:nvPr/>
        </p:nvSpPr>
        <p:spPr>
          <a:xfrm>
            <a:off x="696290" y="1812860"/>
            <a:ext cx="768571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Es la rama de la informática que desarrolla sistemas capaces de </a:t>
            </a:r>
            <a:r>
              <a:rPr lang="es-MX" sz="2000" b="1" dirty="0"/>
              <a:t>realizar tareas que normalmente requieren inteligencia humana</a:t>
            </a:r>
            <a:r>
              <a:rPr lang="es-MX" sz="2000" dirty="0"/>
              <a:t>, como aprender, razonar, reconocer patrones, tomar decisiones o comprender el lenguaje.</a:t>
            </a:r>
            <a:endParaRPr lang="es-PE" sz="2000" dirty="0"/>
          </a:p>
        </p:txBody>
      </p:sp>
      <p:pic>
        <p:nvPicPr>
          <p:cNvPr id="1026" name="Picture 2" descr="La Inteligencia Artificial en los diferentes sectores empresariales">
            <a:extLst>
              <a:ext uri="{FF2B5EF4-FFF2-40B4-BE49-F238E27FC236}">
                <a16:creationId xmlns:a16="http://schemas.microsoft.com/office/drawing/2014/main" id="{EA9379B7-BCE0-8CB1-58ED-E59AB5882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217" y="3070030"/>
            <a:ext cx="5391150" cy="3587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87394D5-42FD-A3F5-969F-BE1E8CD96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>
            <a:extLst>
              <a:ext uri="{FF2B5EF4-FFF2-40B4-BE49-F238E27FC236}">
                <a16:creationId xmlns:a16="http://schemas.microsoft.com/office/drawing/2014/main" id="{5C0DEB91-B877-8888-5593-6F548E427BC7}"/>
              </a:ext>
            </a:extLst>
          </p:cNvPr>
          <p:cNvSpPr/>
          <p:nvPr/>
        </p:nvSpPr>
        <p:spPr>
          <a:xfrm>
            <a:off x="-1" y="0"/>
            <a:ext cx="8080375" cy="771525"/>
          </a:xfrm>
          <a:custGeom>
            <a:avLst/>
            <a:gdLst/>
            <a:ahLst/>
            <a:cxnLst/>
            <a:rect l="l" t="t" r="r" b="b"/>
            <a:pathLst>
              <a:path w="8080375" h="771525">
                <a:moveTo>
                  <a:pt x="8080248" y="0"/>
                </a:moveTo>
                <a:lnTo>
                  <a:pt x="0" y="0"/>
                </a:lnTo>
                <a:lnTo>
                  <a:pt x="0" y="771144"/>
                </a:lnTo>
                <a:lnTo>
                  <a:pt x="8080248" y="771144"/>
                </a:lnTo>
                <a:lnTo>
                  <a:pt x="8080248" y="0"/>
                </a:lnTo>
                <a:close/>
              </a:path>
            </a:pathLst>
          </a:custGeom>
          <a:solidFill>
            <a:srgbClr val="0086CC"/>
          </a:solidFill>
        </p:spPr>
        <p:txBody>
          <a:bodyPr wrap="square" lIns="0" tIns="0" rIns="0" bIns="0" rtlCol="0"/>
          <a:lstStyle/>
          <a:p>
            <a:endParaRPr dirty="0">
              <a:latin typeface="Carlito"/>
            </a:endParaRPr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14C7E434-0BB5-1897-43A6-C498FADE433C}"/>
              </a:ext>
            </a:extLst>
          </p:cNvPr>
          <p:cNvSpPr txBox="1"/>
          <p:nvPr/>
        </p:nvSpPr>
        <p:spPr>
          <a:xfrm>
            <a:off x="280212" y="239649"/>
            <a:ext cx="18450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spc="-5" dirty="0">
                <a:solidFill>
                  <a:srgbClr val="FFFFFF"/>
                </a:solidFill>
                <a:latin typeface="Carlito"/>
                <a:cs typeface="Carlito"/>
              </a:rPr>
              <a:t>PDE en  Inteligencia Artificial</a:t>
            </a:r>
            <a:endParaRPr sz="1400" dirty="0">
              <a:latin typeface="Carlito"/>
              <a:cs typeface="Carlito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0DD69AD-878D-E806-56D5-BC4EEBFEB9D9}"/>
              </a:ext>
            </a:extLst>
          </p:cNvPr>
          <p:cNvSpPr/>
          <p:nvPr/>
        </p:nvSpPr>
        <p:spPr>
          <a:xfrm>
            <a:off x="2125217" y="200405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617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A6F3E28A-C0E7-3B15-3A16-AE5B0DBD58E5}"/>
              </a:ext>
            </a:extLst>
          </p:cNvPr>
          <p:cNvSpPr txBox="1"/>
          <p:nvPr/>
        </p:nvSpPr>
        <p:spPr>
          <a:xfrm>
            <a:off x="2490976" y="230250"/>
            <a:ext cx="551002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600" spc="-5" dirty="0">
                <a:solidFill>
                  <a:srgbClr val="FFFFFF"/>
                </a:solidFill>
                <a:latin typeface="Carlito"/>
                <a:cs typeface="Carlito"/>
              </a:rPr>
              <a:t>Fundamentos de IA y Machine </a:t>
            </a:r>
            <a:r>
              <a:rPr lang="es-ES" sz="1600" spc="-5" dirty="0" err="1">
                <a:solidFill>
                  <a:srgbClr val="FFFFFF"/>
                </a:solidFill>
                <a:latin typeface="Carlito"/>
                <a:cs typeface="Carlito"/>
              </a:rPr>
              <a:t>Learning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7A49F40-D5B1-7838-EC86-51C0BB5A2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3</a:t>
            </a:fld>
            <a:endParaRPr lang="es-PE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A3F45D0-ACF6-537C-2DD8-B34545F5C9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018" y="125949"/>
            <a:ext cx="521844" cy="62362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3390CDD-752A-F719-B719-D8DF04E3F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1" y="1119181"/>
            <a:ext cx="8382000" cy="505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385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70DD18-B04F-DF49-5C1E-E9CF9F085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>
            <a:extLst>
              <a:ext uri="{FF2B5EF4-FFF2-40B4-BE49-F238E27FC236}">
                <a16:creationId xmlns:a16="http://schemas.microsoft.com/office/drawing/2014/main" id="{4DB045F4-347B-3321-E3A5-53789EBE6AFF}"/>
              </a:ext>
            </a:extLst>
          </p:cNvPr>
          <p:cNvSpPr/>
          <p:nvPr/>
        </p:nvSpPr>
        <p:spPr>
          <a:xfrm>
            <a:off x="-1" y="0"/>
            <a:ext cx="8080375" cy="771525"/>
          </a:xfrm>
          <a:custGeom>
            <a:avLst/>
            <a:gdLst/>
            <a:ahLst/>
            <a:cxnLst/>
            <a:rect l="l" t="t" r="r" b="b"/>
            <a:pathLst>
              <a:path w="8080375" h="771525">
                <a:moveTo>
                  <a:pt x="8080248" y="0"/>
                </a:moveTo>
                <a:lnTo>
                  <a:pt x="0" y="0"/>
                </a:lnTo>
                <a:lnTo>
                  <a:pt x="0" y="771144"/>
                </a:lnTo>
                <a:lnTo>
                  <a:pt x="8080248" y="771144"/>
                </a:lnTo>
                <a:lnTo>
                  <a:pt x="8080248" y="0"/>
                </a:lnTo>
                <a:close/>
              </a:path>
            </a:pathLst>
          </a:custGeom>
          <a:solidFill>
            <a:srgbClr val="0086CC"/>
          </a:solidFill>
        </p:spPr>
        <p:txBody>
          <a:bodyPr wrap="square" lIns="0" tIns="0" rIns="0" bIns="0" rtlCol="0"/>
          <a:lstStyle/>
          <a:p>
            <a:endParaRPr dirty="0">
              <a:latin typeface="Carlito"/>
            </a:endParaRPr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DF1E1005-180A-2E19-F962-79BA4D464B0D}"/>
              </a:ext>
            </a:extLst>
          </p:cNvPr>
          <p:cNvSpPr txBox="1"/>
          <p:nvPr/>
        </p:nvSpPr>
        <p:spPr>
          <a:xfrm>
            <a:off x="280212" y="239649"/>
            <a:ext cx="18450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spc="-5" dirty="0">
                <a:solidFill>
                  <a:srgbClr val="FFFFFF"/>
                </a:solidFill>
                <a:latin typeface="Carlito"/>
                <a:cs typeface="Carlito"/>
              </a:rPr>
              <a:t>PDE en  Inteligencia Artificial</a:t>
            </a:r>
            <a:endParaRPr sz="1400" dirty="0">
              <a:latin typeface="Carlito"/>
              <a:cs typeface="Carlito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2E22197C-BCBF-6BAB-DD4B-9F73F51D0967}"/>
              </a:ext>
            </a:extLst>
          </p:cNvPr>
          <p:cNvSpPr/>
          <p:nvPr/>
        </p:nvSpPr>
        <p:spPr>
          <a:xfrm>
            <a:off x="2125217" y="200405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617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979F39D6-2BAD-359F-D2DD-31B2BA95E4B7}"/>
              </a:ext>
            </a:extLst>
          </p:cNvPr>
          <p:cNvSpPr txBox="1"/>
          <p:nvPr/>
        </p:nvSpPr>
        <p:spPr>
          <a:xfrm>
            <a:off x="2490976" y="230250"/>
            <a:ext cx="551002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600" spc="-5" dirty="0">
                <a:solidFill>
                  <a:srgbClr val="FFFFFF"/>
                </a:solidFill>
                <a:latin typeface="Carlito"/>
                <a:cs typeface="Carlito"/>
              </a:rPr>
              <a:t>Fundamentos de IA y Machine </a:t>
            </a:r>
            <a:r>
              <a:rPr lang="es-ES" sz="1600" spc="-5" dirty="0" err="1">
                <a:solidFill>
                  <a:srgbClr val="FFFFFF"/>
                </a:solidFill>
                <a:latin typeface="Carlito"/>
                <a:cs typeface="Carlito"/>
              </a:rPr>
              <a:t>Learning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716AC7D-7FB4-33F2-79C7-C18536CB3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4</a:t>
            </a:fld>
            <a:endParaRPr lang="es-PE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FA9421F-70F1-85FD-0B0D-AC2F6C6F2C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018" y="125949"/>
            <a:ext cx="521844" cy="62362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EE650D4-4940-5B76-D138-478E8661A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840452"/>
            <a:ext cx="4198816" cy="153274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AFA29C8-0214-96D6-8C53-FF8EE5F6EE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3196" y="1869082"/>
            <a:ext cx="4613910" cy="149336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530E5D3-7BC4-688D-E06D-DD938FC1EE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40" y="3139566"/>
            <a:ext cx="4198816" cy="172633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DC50B90-6C50-9F08-CFFA-FBB2A0E069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1528" y="4002735"/>
            <a:ext cx="4245222" cy="166194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527D80F4-07F1-E08F-8714-2C86703E23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525" y="5257800"/>
            <a:ext cx="4198816" cy="157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218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0122AD-B841-F8AA-163A-548E9A5A3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>
            <a:extLst>
              <a:ext uri="{FF2B5EF4-FFF2-40B4-BE49-F238E27FC236}">
                <a16:creationId xmlns:a16="http://schemas.microsoft.com/office/drawing/2014/main" id="{44142026-7B04-824B-90DB-666586D292DF}"/>
              </a:ext>
            </a:extLst>
          </p:cNvPr>
          <p:cNvSpPr/>
          <p:nvPr/>
        </p:nvSpPr>
        <p:spPr>
          <a:xfrm>
            <a:off x="-1" y="0"/>
            <a:ext cx="8080375" cy="771525"/>
          </a:xfrm>
          <a:custGeom>
            <a:avLst/>
            <a:gdLst/>
            <a:ahLst/>
            <a:cxnLst/>
            <a:rect l="l" t="t" r="r" b="b"/>
            <a:pathLst>
              <a:path w="8080375" h="771525">
                <a:moveTo>
                  <a:pt x="8080248" y="0"/>
                </a:moveTo>
                <a:lnTo>
                  <a:pt x="0" y="0"/>
                </a:lnTo>
                <a:lnTo>
                  <a:pt x="0" y="771144"/>
                </a:lnTo>
                <a:lnTo>
                  <a:pt x="8080248" y="771144"/>
                </a:lnTo>
                <a:lnTo>
                  <a:pt x="8080248" y="0"/>
                </a:lnTo>
                <a:close/>
              </a:path>
            </a:pathLst>
          </a:custGeom>
          <a:solidFill>
            <a:srgbClr val="0086CC"/>
          </a:solidFill>
        </p:spPr>
        <p:txBody>
          <a:bodyPr wrap="square" lIns="0" tIns="0" rIns="0" bIns="0" rtlCol="0"/>
          <a:lstStyle/>
          <a:p>
            <a:endParaRPr dirty="0">
              <a:latin typeface="Carlito"/>
            </a:endParaRPr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F4942638-75FF-1872-3A55-81DFCB8F78C8}"/>
              </a:ext>
            </a:extLst>
          </p:cNvPr>
          <p:cNvSpPr txBox="1"/>
          <p:nvPr/>
        </p:nvSpPr>
        <p:spPr>
          <a:xfrm>
            <a:off x="280212" y="239649"/>
            <a:ext cx="18450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spc="-5" dirty="0">
                <a:solidFill>
                  <a:srgbClr val="FFFFFF"/>
                </a:solidFill>
                <a:latin typeface="Carlito"/>
                <a:cs typeface="Carlito"/>
              </a:rPr>
              <a:t>PDE en  Inteligencia Artificial</a:t>
            </a:r>
            <a:endParaRPr sz="1400" dirty="0">
              <a:latin typeface="Carlito"/>
              <a:cs typeface="Carlito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640089FD-D7C8-CFA8-5534-9B4B92608CCF}"/>
              </a:ext>
            </a:extLst>
          </p:cNvPr>
          <p:cNvSpPr/>
          <p:nvPr/>
        </p:nvSpPr>
        <p:spPr>
          <a:xfrm>
            <a:off x="2125217" y="200405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617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D2B8CBFE-922E-5845-B4C3-C894AF3D6698}"/>
              </a:ext>
            </a:extLst>
          </p:cNvPr>
          <p:cNvSpPr txBox="1"/>
          <p:nvPr/>
        </p:nvSpPr>
        <p:spPr>
          <a:xfrm>
            <a:off x="2490976" y="230250"/>
            <a:ext cx="551002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600" spc="-5" dirty="0">
                <a:solidFill>
                  <a:srgbClr val="FFFFFF"/>
                </a:solidFill>
                <a:latin typeface="Carlito"/>
                <a:cs typeface="Carlito"/>
              </a:rPr>
              <a:t>Fundamentos de IA y Machine </a:t>
            </a:r>
            <a:r>
              <a:rPr lang="es-ES" sz="1600" spc="-5" dirty="0" err="1">
                <a:solidFill>
                  <a:srgbClr val="FFFFFF"/>
                </a:solidFill>
                <a:latin typeface="Carlito"/>
                <a:cs typeface="Carlito"/>
              </a:rPr>
              <a:t>Learning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39980B2-8D1F-45D4-50DA-B7E38860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5</a:t>
            </a:fld>
            <a:endParaRPr lang="es-PE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897FA6D-30CC-39BF-30F9-307A31F20E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018" y="125949"/>
            <a:ext cx="521844" cy="62362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9FCFC94-7E54-4D08-FEAC-CACC6084A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12" y="805179"/>
            <a:ext cx="4367988" cy="132842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427E044-C0C6-B7EA-D6C7-9171BCB93C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3575" y="1928038"/>
            <a:ext cx="4459114" cy="145463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B38E804-A7C1-23BA-6513-7D20119FE4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413" y="2979196"/>
            <a:ext cx="3997462" cy="182140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7B16555-3D5E-D46A-F819-B51F6F6FDC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9138" y="3864887"/>
            <a:ext cx="4367988" cy="1720307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F178AED-28CA-2FEE-53FD-3E1B8FA706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149" y="4929962"/>
            <a:ext cx="4367989" cy="182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3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C386C13-3F8A-DBC9-736C-BE8E8A5EE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>
            <a:extLst>
              <a:ext uri="{FF2B5EF4-FFF2-40B4-BE49-F238E27FC236}">
                <a16:creationId xmlns:a16="http://schemas.microsoft.com/office/drawing/2014/main" id="{EC1EE7BE-EBB4-956D-7FF7-017CBD9DBD08}"/>
              </a:ext>
            </a:extLst>
          </p:cNvPr>
          <p:cNvSpPr/>
          <p:nvPr/>
        </p:nvSpPr>
        <p:spPr>
          <a:xfrm>
            <a:off x="-1" y="0"/>
            <a:ext cx="8080375" cy="771525"/>
          </a:xfrm>
          <a:custGeom>
            <a:avLst/>
            <a:gdLst/>
            <a:ahLst/>
            <a:cxnLst/>
            <a:rect l="l" t="t" r="r" b="b"/>
            <a:pathLst>
              <a:path w="8080375" h="771525">
                <a:moveTo>
                  <a:pt x="8080248" y="0"/>
                </a:moveTo>
                <a:lnTo>
                  <a:pt x="0" y="0"/>
                </a:lnTo>
                <a:lnTo>
                  <a:pt x="0" y="771144"/>
                </a:lnTo>
                <a:lnTo>
                  <a:pt x="8080248" y="771144"/>
                </a:lnTo>
                <a:lnTo>
                  <a:pt x="8080248" y="0"/>
                </a:lnTo>
                <a:close/>
              </a:path>
            </a:pathLst>
          </a:custGeom>
          <a:solidFill>
            <a:srgbClr val="0086CC"/>
          </a:solidFill>
        </p:spPr>
        <p:txBody>
          <a:bodyPr wrap="square" lIns="0" tIns="0" rIns="0" bIns="0" rtlCol="0"/>
          <a:lstStyle/>
          <a:p>
            <a:endParaRPr dirty="0">
              <a:latin typeface="Carlito"/>
            </a:endParaRPr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C161D647-72CA-2A6D-5A7C-3A4CFCEB85D9}"/>
              </a:ext>
            </a:extLst>
          </p:cNvPr>
          <p:cNvSpPr txBox="1"/>
          <p:nvPr/>
        </p:nvSpPr>
        <p:spPr>
          <a:xfrm>
            <a:off x="280212" y="239649"/>
            <a:ext cx="18450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spc="-5" dirty="0">
                <a:solidFill>
                  <a:srgbClr val="FFFFFF"/>
                </a:solidFill>
                <a:latin typeface="Carlito"/>
                <a:cs typeface="Carlito"/>
              </a:rPr>
              <a:t>PDE en  Inteligencia Artificial</a:t>
            </a:r>
            <a:endParaRPr sz="1400" dirty="0">
              <a:latin typeface="Carlito"/>
              <a:cs typeface="Carlito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C061DDE6-A19C-76A7-1655-C5A65F82C3C2}"/>
              </a:ext>
            </a:extLst>
          </p:cNvPr>
          <p:cNvSpPr/>
          <p:nvPr/>
        </p:nvSpPr>
        <p:spPr>
          <a:xfrm>
            <a:off x="2125217" y="200405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617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A3B63D92-DB55-F3E0-68BA-85B22EC26F33}"/>
              </a:ext>
            </a:extLst>
          </p:cNvPr>
          <p:cNvSpPr txBox="1"/>
          <p:nvPr/>
        </p:nvSpPr>
        <p:spPr>
          <a:xfrm>
            <a:off x="2490976" y="230250"/>
            <a:ext cx="551002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600" spc="-5" dirty="0">
                <a:solidFill>
                  <a:srgbClr val="FFFFFF"/>
                </a:solidFill>
                <a:latin typeface="Carlito"/>
                <a:cs typeface="Carlito"/>
              </a:rPr>
              <a:t>Fundamentos de IA y Machine </a:t>
            </a:r>
            <a:r>
              <a:rPr lang="es-ES" sz="1600" spc="-5" dirty="0" err="1">
                <a:solidFill>
                  <a:srgbClr val="FFFFFF"/>
                </a:solidFill>
                <a:latin typeface="Carlito"/>
                <a:cs typeface="Carlito"/>
              </a:rPr>
              <a:t>Learning</a:t>
            </a:r>
            <a:endParaRPr sz="1600" dirty="0">
              <a:latin typeface="Carlito"/>
              <a:cs typeface="Carlito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5E47076-CB33-57F5-6F78-00CF28E22E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018" y="125949"/>
            <a:ext cx="521844" cy="623628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1E976F75-92C4-3329-F65E-99AA2A828189}"/>
              </a:ext>
            </a:extLst>
          </p:cNvPr>
          <p:cNvSpPr txBox="1">
            <a:spLocks/>
          </p:cNvSpPr>
          <p:nvPr/>
        </p:nvSpPr>
        <p:spPr>
          <a:xfrm>
            <a:off x="165759" y="1501545"/>
            <a:ext cx="2401025" cy="2540623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450"/>
              </a:spcAft>
            </a:pPr>
            <a:r>
              <a:rPr lang="en-US" sz="3000" dirty="0">
                <a:solidFill>
                  <a:srgbClr val="FFFFFF"/>
                </a:solidFill>
              </a:rPr>
              <a:t>Machine Learning</a:t>
            </a:r>
          </a:p>
        </p:txBody>
      </p:sp>
      <p:graphicFrame>
        <p:nvGraphicFramePr>
          <p:cNvPr id="9" name="Marcador de texto 3">
            <a:extLst>
              <a:ext uri="{FF2B5EF4-FFF2-40B4-BE49-F238E27FC236}">
                <a16:creationId xmlns:a16="http://schemas.microsoft.com/office/drawing/2014/main" id="{00C62E86-EC6E-566D-2351-123862F218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3868142"/>
              </p:ext>
            </p:extLst>
          </p:nvPr>
        </p:nvGraphicFramePr>
        <p:xfrm>
          <a:off x="545752" y="3581400"/>
          <a:ext cx="8269656" cy="2188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2879FF49-8D39-32F8-2492-D0E18C5AC6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6664" y="1061403"/>
            <a:ext cx="5422106" cy="206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184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375747-5313-0AA2-1B77-B2743E39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>
            <a:extLst>
              <a:ext uri="{FF2B5EF4-FFF2-40B4-BE49-F238E27FC236}">
                <a16:creationId xmlns:a16="http://schemas.microsoft.com/office/drawing/2014/main" id="{3FBEAC28-96D3-DC3F-9C1D-5BB09C9DA2AB}"/>
              </a:ext>
            </a:extLst>
          </p:cNvPr>
          <p:cNvSpPr/>
          <p:nvPr/>
        </p:nvSpPr>
        <p:spPr>
          <a:xfrm>
            <a:off x="-1" y="0"/>
            <a:ext cx="8080375" cy="771525"/>
          </a:xfrm>
          <a:custGeom>
            <a:avLst/>
            <a:gdLst/>
            <a:ahLst/>
            <a:cxnLst/>
            <a:rect l="l" t="t" r="r" b="b"/>
            <a:pathLst>
              <a:path w="8080375" h="771525">
                <a:moveTo>
                  <a:pt x="8080248" y="0"/>
                </a:moveTo>
                <a:lnTo>
                  <a:pt x="0" y="0"/>
                </a:lnTo>
                <a:lnTo>
                  <a:pt x="0" y="771144"/>
                </a:lnTo>
                <a:lnTo>
                  <a:pt x="8080248" y="771144"/>
                </a:lnTo>
                <a:lnTo>
                  <a:pt x="8080248" y="0"/>
                </a:lnTo>
                <a:close/>
              </a:path>
            </a:pathLst>
          </a:custGeom>
          <a:solidFill>
            <a:srgbClr val="0086CC"/>
          </a:solidFill>
        </p:spPr>
        <p:txBody>
          <a:bodyPr wrap="square" lIns="0" tIns="0" rIns="0" bIns="0" rtlCol="0"/>
          <a:lstStyle/>
          <a:p>
            <a:endParaRPr dirty="0">
              <a:latin typeface="Carlito"/>
            </a:endParaRPr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95D11A7F-9123-2849-45A2-FD77DF7352E5}"/>
              </a:ext>
            </a:extLst>
          </p:cNvPr>
          <p:cNvSpPr txBox="1"/>
          <p:nvPr/>
        </p:nvSpPr>
        <p:spPr>
          <a:xfrm>
            <a:off x="280212" y="239649"/>
            <a:ext cx="18450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spc="-5" dirty="0">
                <a:solidFill>
                  <a:srgbClr val="FFFFFF"/>
                </a:solidFill>
                <a:latin typeface="Carlito"/>
                <a:cs typeface="Carlito"/>
              </a:rPr>
              <a:t>PDE en  Inteligencia Artificial</a:t>
            </a:r>
            <a:endParaRPr sz="1400" dirty="0">
              <a:latin typeface="Carlito"/>
              <a:cs typeface="Carlito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7F95B24A-F757-D1A0-1E0C-C3DF1AD19395}"/>
              </a:ext>
            </a:extLst>
          </p:cNvPr>
          <p:cNvSpPr/>
          <p:nvPr/>
        </p:nvSpPr>
        <p:spPr>
          <a:xfrm>
            <a:off x="2125217" y="200405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617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9C2D0172-8AEF-9CF1-18F8-C109C8868876}"/>
              </a:ext>
            </a:extLst>
          </p:cNvPr>
          <p:cNvSpPr txBox="1"/>
          <p:nvPr/>
        </p:nvSpPr>
        <p:spPr>
          <a:xfrm>
            <a:off x="2490976" y="230250"/>
            <a:ext cx="551002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600" spc="-5" dirty="0">
                <a:solidFill>
                  <a:srgbClr val="FFFFFF"/>
                </a:solidFill>
                <a:latin typeface="Carlito"/>
                <a:cs typeface="Carlito"/>
              </a:rPr>
              <a:t>Fundamentos de IA y Machine </a:t>
            </a:r>
            <a:r>
              <a:rPr lang="es-ES" sz="1600" spc="-5" dirty="0" err="1">
                <a:solidFill>
                  <a:srgbClr val="FFFFFF"/>
                </a:solidFill>
                <a:latin typeface="Carlito"/>
                <a:cs typeface="Carlito"/>
              </a:rPr>
              <a:t>Learning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44E7B51-9B52-D18B-963F-6CA9338E2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7</a:t>
            </a:fld>
            <a:endParaRPr lang="es-PE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AA3DE9A-9BCA-B995-089D-694FF8EAC0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018" y="125949"/>
            <a:ext cx="521844" cy="62362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9FF63A3-FBB3-14B0-1EE5-EE295A7F5320}"/>
              </a:ext>
            </a:extLst>
          </p:cNvPr>
          <p:cNvSpPr txBox="1"/>
          <p:nvPr/>
        </p:nvSpPr>
        <p:spPr>
          <a:xfrm>
            <a:off x="3663068" y="1048345"/>
            <a:ext cx="2672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rgbClr val="3B61A1"/>
                </a:solidFill>
              </a:rPr>
              <a:t>Cambio de Enfoque</a:t>
            </a:r>
            <a:endParaRPr lang="es-PE" sz="2400" b="1" dirty="0">
              <a:solidFill>
                <a:srgbClr val="3B61A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48E89BA-29B6-20CD-1561-7C8915113B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3485"/>
          <a:stretch/>
        </p:blipFill>
        <p:spPr>
          <a:xfrm>
            <a:off x="4199291" y="2421829"/>
            <a:ext cx="4253345" cy="11807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8A51595-1760-6F22-57B6-C2C390130B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485"/>
          <a:stretch/>
        </p:blipFill>
        <p:spPr>
          <a:xfrm>
            <a:off x="4230410" y="4698073"/>
            <a:ext cx="4253345" cy="11807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ABB59D42-88C9-1ACA-F168-9D5DB10ED659}"/>
              </a:ext>
            </a:extLst>
          </p:cNvPr>
          <p:cNvSpPr/>
          <p:nvPr/>
        </p:nvSpPr>
        <p:spPr>
          <a:xfrm>
            <a:off x="6125071" y="3751376"/>
            <a:ext cx="401782" cy="2493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5518DB6-B41B-B4E2-58D1-186FCFB6701C}"/>
              </a:ext>
            </a:extLst>
          </p:cNvPr>
          <p:cNvSpPr txBox="1"/>
          <p:nvPr/>
        </p:nvSpPr>
        <p:spPr>
          <a:xfrm>
            <a:off x="733480" y="1586286"/>
            <a:ext cx="219594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Programa Tradicional</a:t>
            </a:r>
            <a:endParaRPr lang="es-PE" b="1" dirty="0">
              <a:solidFill>
                <a:schemeClr val="bg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222D60F-823D-447F-9DFF-5C8AB6DFB5F2}"/>
              </a:ext>
            </a:extLst>
          </p:cNvPr>
          <p:cNvSpPr txBox="1"/>
          <p:nvPr/>
        </p:nvSpPr>
        <p:spPr>
          <a:xfrm>
            <a:off x="733480" y="2246432"/>
            <a:ext cx="2195946" cy="1754326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s-ES" dirty="0"/>
              <a:t>Se tienen los datos de entrada y el programador crea el programa para producir la salida deseada</a:t>
            </a:r>
            <a:endParaRPr lang="es-PE" dirty="0"/>
          </a:p>
        </p:txBody>
      </p:sp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0721841C-977C-46BB-AEA0-17B71572C812}"/>
              </a:ext>
            </a:extLst>
          </p:cNvPr>
          <p:cNvSpPr/>
          <p:nvPr/>
        </p:nvSpPr>
        <p:spPr>
          <a:xfrm rot="16200000">
            <a:off x="3238776" y="2800615"/>
            <a:ext cx="401782" cy="2493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Flecha: hacia abajo 13">
            <a:extLst>
              <a:ext uri="{FF2B5EF4-FFF2-40B4-BE49-F238E27FC236}">
                <a16:creationId xmlns:a16="http://schemas.microsoft.com/office/drawing/2014/main" id="{CF018B93-FF76-7999-73FF-36A54A0122F6}"/>
              </a:ext>
            </a:extLst>
          </p:cNvPr>
          <p:cNvSpPr/>
          <p:nvPr/>
        </p:nvSpPr>
        <p:spPr>
          <a:xfrm rot="16200000">
            <a:off x="3382475" y="5163741"/>
            <a:ext cx="401782" cy="2493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FC027EC-E547-661F-E88C-AC79A148459E}"/>
              </a:ext>
            </a:extLst>
          </p:cNvPr>
          <p:cNvSpPr txBox="1"/>
          <p:nvPr/>
        </p:nvSpPr>
        <p:spPr>
          <a:xfrm>
            <a:off x="740376" y="4328741"/>
            <a:ext cx="219594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Machine </a:t>
            </a:r>
            <a:r>
              <a:rPr lang="es-ES" b="1" dirty="0" err="1">
                <a:solidFill>
                  <a:schemeClr val="bg1"/>
                </a:solidFill>
              </a:rPr>
              <a:t>Learning</a:t>
            </a:r>
            <a:endParaRPr lang="es-PE" b="1" dirty="0">
              <a:solidFill>
                <a:schemeClr val="bg1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3437412-409A-30E2-D8B4-BF19FCACE7F6}"/>
              </a:ext>
            </a:extLst>
          </p:cNvPr>
          <p:cNvSpPr txBox="1"/>
          <p:nvPr/>
        </p:nvSpPr>
        <p:spPr>
          <a:xfrm>
            <a:off x="740377" y="4722614"/>
            <a:ext cx="2375153" cy="1477328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s-ES" dirty="0"/>
              <a:t>Se tienen los datos de entrada y salida que son inputs para un algoritmo que nos creará el programa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54931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1072BF5-13F2-53AC-27E9-EBE8E27E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>
            <a:extLst>
              <a:ext uri="{FF2B5EF4-FFF2-40B4-BE49-F238E27FC236}">
                <a16:creationId xmlns:a16="http://schemas.microsoft.com/office/drawing/2014/main" id="{16E78BF1-3291-BB65-338D-BB5363FB3A71}"/>
              </a:ext>
            </a:extLst>
          </p:cNvPr>
          <p:cNvSpPr/>
          <p:nvPr/>
        </p:nvSpPr>
        <p:spPr>
          <a:xfrm>
            <a:off x="-1" y="0"/>
            <a:ext cx="8080375" cy="771525"/>
          </a:xfrm>
          <a:custGeom>
            <a:avLst/>
            <a:gdLst/>
            <a:ahLst/>
            <a:cxnLst/>
            <a:rect l="l" t="t" r="r" b="b"/>
            <a:pathLst>
              <a:path w="8080375" h="771525">
                <a:moveTo>
                  <a:pt x="8080248" y="0"/>
                </a:moveTo>
                <a:lnTo>
                  <a:pt x="0" y="0"/>
                </a:lnTo>
                <a:lnTo>
                  <a:pt x="0" y="771144"/>
                </a:lnTo>
                <a:lnTo>
                  <a:pt x="8080248" y="771144"/>
                </a:lnTo>
                <a:lnTo>
                  <a:pt x="8080248" y="0"/>
                </a:lnTo>
                <a:close/>
              </a:path>
            </a:pathLst>
          </a:custGeom>
          <a:solidFill>
            <a:srgbClr val="0086CC"/>
          </a:solidFill>
        </p:spPr>
        <p:txBody>
          <a:bodyPr wrap="square" lIns="0" tIns="0" rIns="0" bIns="0" rtlCol="0"/>
          <a:lstStyle/>
          <a:p>
            <a:endParaRPr dirty="0">
              <a:latin typeface="Carlito"/>
            </a:endParaRPr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716AA317-3F44-CF75-CC9A-F2D15A8A8C35}"/>
              </a:ext>
            </a:extLst>
          </p:cNvPr>
          <p:cNvSpPr txBox="1"/>
          <p:nvPr/>
        </p:nvSpPr>
        <p:spPr>
          <a:xfrm>
            <a:off x="280212" y="239649"/>
            <a:ext cx="18450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spc="-5" dirty="0">
                <a:solidFill>
                  <a:srgbClr val="FFFFFF"/>
                </a:solidFill>
                <a:latin typeface="Carlito"/>
                <a:cs typeface="Carlito"/>
              </a:rPr>
              <a:t>PDE en  Inteligencia Artificial</a:t>
            </a:r>
            <a:endParaRPr sz="1400" dirty="0">
              <a:latin typeface="Carlito"/>
              <a:cs typeface="Carlito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F7A9F78D-B391-A2AF-B312-07371CD69D7A}"/>
              </a:ext>
            </a:extLst>
          </p:cNvPr>
          <p:cNvSpPr/>
          <p:nvPr/>
        </p:nvSpPr>
        <p:spPr>
          <a:xfrm>
            <a:off x="2125217" y="200405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617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95FCA466-7A6C-69DA-D3C8-9F0F70456C90}"/>
              </a:ext>
            </a:extLst>
          </p:cNvPr>
          <p:cNvSpPr txBox="1"/>
          <p:nvPr/>
        </p:nvSpPr>
        <p:spPr>
          <a:xfrm>
            <a:off x="2490976" y="230250"/>
            <a:ext cx="551002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600" spc="-5" dirty="0">
                <a:solidFill>
                  <a:srgbClr val="FFFFFF"/>
                </a:solidFill>
                <a:latin typeface="Carlito"/>
                <a:cs typeface="Carlito"/>
              </a:rPr>
              <a:t>Fundamentos de IA y Machine </a:t>
            </a:r>
            <a:r>
              <a:rPr lang="es-ES" sz="1600" spc="-5" dirty="0" err="1">
                <a:solidFill>
                  <a:srgbClr val="FFFFFF"/>
                </a:solidFill>
                <a:latin typeface="Carlito"/>
                <a:cs typeface="Carlito"/>
              </a:rPr>
              <a:t>Learning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B01B1A4-1185-0A0F-6057-9696DD5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8</a:t>
            </a:fld>
            <a:endParaRPr lang="es-PE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A55874E-8C66-2885-6773-15701ED6BF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018" y="125949"/>
            <a:ext cx="521844" cy="623628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92C7D218-7A39-DF4F-1E26-89A91F183C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93"/>
          <a:stretch>
            <a:fillRect/>
          </a:stretch>
        </p:blipFill>
        <p:spPr bwMode="auto">
          <a:xfrm>
            <a:off x="0" y="1186315"/>
            <a:ext cx="9144000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5252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8CF960-B162-6040-1B39-BDFF82540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>
            <a:extLst>
              <a:ext uri="{FF2B5EF4-FFF2-40B4-BE49-F238E27FC236}">
                <a16:creationId xmlns:a16="http://schemas.microsoft.com/office/drawing/2014/main" id="{16ED6199-96E5-0FF4-0C99-3A1DB23426FF}"/>
              </a:ext>
            </a:extLst>
          </p:cNvPr>
          <p:cNvSpPr/>
          <p:nvPr/>
        </p:nvSpPr>
        <p:spPr>
          <a:xfrm>
            <a:off x="-1" y="0"/>
            <a:ext cx="8080375" cy="771525"/>
          </a:xfrm>
          <a:custGeom>
            <a:avLst/>
            <a:gdLst/>
            <a:ahLst/>
            <a:cxnLst/>
            <a:rect l="l" t="t" r="r" b="b"/>
            <a:pathLst>
              <a:path w="8080375" h="771525">
                <a:moveTo>
                  <a:pt x="8080248" y="0"/>
                </a:moveTo>
                <a:lnTo>
                  <a:pt x="0" y="0"/>
                </a:lnTo>
                <a:lnTo>
                  <a:pt x="0" y="771144"/>
                </a:lnTo>
                <a:lnTo>
                  <a:pt x="8080248" y="771144"/>
                </a:lnTo>
                <a:lnTo>
                  <a:pt x="8080248" y="0"/>
                </a:lnTo>
                <a:close/>
              </a:path>
            </a:pathLst>
          </a:custGeom>
          <a:solidFill>
            <a:srgbClr val="0086CC"/>
          </a:solidFill>
        </p:spPr>
        <p:txBody>
          <a:bodyPr wrap="square" lIns="0" tIns="0" rIns="0" bIns="0" rtlCol="0"/>
          <a:lstStyle/>
          <a:p>
            <a:endParaRPr dirty="0">
              <a:latin typeface="Carlito"/>
            </a:endParaRPr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8CC34390-0993-E612-D0C0-E718F0D8B48B}"/>
              </a:ext>
            </a:extLst>
          </p:cNvPr>
          <p:cNvSpPr txBox="1"/>
          <p:nvPr/>
        </p:nvSpPr>
        <p:spPr>
          <a:xfrm>
            <a:off x="280212" y="239649"/>
            <a:ext cx="18450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spc="-5" dirty="0">
                <a:solidFill>
                  <a:srgbClr val="FFFFFF"/>
                </a:solidFill>
                <a:latin typeface="Carlito"/>
                <a:cs typeface="Carlito"/>
              </a:rPr>
              <a:t>PDE en  Inteligencia Artificial</a:t>
            </a:r>
            <a:endParaRPr sz="1400" dirty="0">
              <a:latin typeface="Carlito"/>
              <a:cs typeface="Carlito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C06EE4CB-EFCA-A29E-9935-7526308C7505}"/>
              </a:ext>
            </a:extLst>
          </p:cNvPr>
          <p:cNvSpPr/>
          <p:nvPr/>
        </p:nvSpPr>
        <p:spPr>
          <a:xfrm>
            <a:off x="2125217" y="200405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617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E5CDF18C-4D72-55E8-4E6F-7F6129741645}"/>
              </a:ext>
            </a:extLst>
          </p:cNvPr>
          <p:cNvSpPr txBox="1"/>
          <p:nvPr/>
        </p:nvSpPr>
        <p:spPr>
          <a:xfrm>
            <a:off x="2490976" y="230250"/>
            <a:ext cx="551002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600" spc="-5" dirty="0">
                <a:solidFill>
                  <a:srgbClr val="FFFFFF"/>
                </a:solidFill>
                <a:latin typeface="Carlito"/>
                <a:cs typeface="Carlito"/>
              </a:rPr>
              <a:t>Fundamentos de IA y Machine </a:t>
            </a:r>
            <a:r>
              <a:rPr lang="es-ES" sz="1600" spc="-5" dirty="0" err="1">
                <a:solidFill>
                  <a:srgbClr val="FFFFFF"/>
                </a:solidFill>
                <a:latin typeface="Carlito"/>
                <a:cs typeface="Carlito"/>
              </a:rPr>
              <a:t>Learning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7158FFA-0D42-ED79-9C9A-23644734E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9</a:t>
            </a:fld>
            <a:endParaRPr lang="es-PE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505B935-50F4-8419-0DB5-E0E79B22B5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018" y="125949"/>
            <a:ext cx="521844" cy="623628"/>
          </a:xfrm>
          <a:prstGeom prst="rect">
            <a:avLst/>
          </a:prstGeom>
        </p:spPr>
      </p:pic>
      <p:pic>
        <p:nvPicPr>
          <p:cNvPr id="2050" name="Picture 2" descr="Los 3 principales tipos de machine learning | Pipedrive">
            <a:extLst>
              <a:ext uri="{FF2B5EF4-FFF2-40B4-BE49-F238E27FC236}">
                <a16:creationId xmlns:a16="http://schemas.microsoft.com/office/drawing/2014/main" id="{AD53965A-AE07-0C25-06BF-DD87817AB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42" y="1144071"/>
            <a:ext cx="8610600" cy="4983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504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671798"/>
            <a:ext cx="1143000" cy="1143000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614" y="2590800"/>
            <a:ext cx="1164772" cy="1153239"/>
          </a:xfrm>
          <a:prstGeom prst="rect">
            <a:avLst/>
          </a:prstGeom>
        </p:spPr>
      </p:pic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lang="es-PE" smtClean="0"/>
              <a:t>10</a:t>
            </a:fld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8D75C3E-2899-AB37-18BF-03D5207F6C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902" y="2590800"/>
            <a:ext cx="1200947" cy="12042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241</Words>
  <Application>Microsoft Office PowerPoint</Application>
  <PresentationFormat>Presentación en pantalla (4:3)</PresentationFormat>
  <Paragraphs>48</Paragraphs>
  <Slides>10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Carlito</vt:lpstr>
      <vt:lpstr>Tema de Office</vt:lpstr>
      <vt:lpstr>FUNDAMENTOS DE IA y MACHINE LEARNING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diplomadosperu</dc:creator>
  <cp:lastModifiedBy>JUAN JOSE ROMERO ALIAGA</cp:lastModifiedBy>
  <cp:revision>86</cp:revision>
  <dcterms:created xsi:type="dcterms:W3CDTF">2020-05-26T04:19:37Z</dcterms:created>
  <dcterms:modified xsi:type="dcterms:W3CDTF">2025-10-18T13:21:30Z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2018-02-28T00:00:00Z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2020-05-26T00:00:00Z</vt:filetime>
  </property>
</Properties>
</file>